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608" autoAdjust="0"/>
  </p:normalViewPr>
  <p:slideViewPr>
    <p:cSldViewPr snapToGrid="0" snapToObjects="1">
      <p:cViewPr varScale="1">
        <p:scale>
          <a:sx n="68" d="100"/>
          <a:sy n="68" d="100"/>
        </p:scale>
        <p:origin x="-564" y="-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89" y="197348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67731"/>
            <a:ext cx="8534400" cy="1070586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4" y="1671033"/>
            <a:ext cx="69279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SIH25126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Student Innovation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98234"/>
            <a:ext cx="10972800" cy="9009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617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ShopEase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5" y="1390816"/>
            <a:ext cx="1706295" cy="324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02" y="1268964"/>
            <a:ext cx="1744825" cy="4630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506" y="1340792"/>
            <a:ext cx="1494455" cy="4558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398" y="1509472"/>
            <a:ext cx="1528781" cy="4353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078" y="1879965"/>
            <a:ext cx="1469551" cy="337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Oval 10"/>
          <p:cNvSpPr/>
          <p:nvPr/>
        </p:nvSpPr>
        <p:spPr>
          <a:xfrm>
            <a:off x="7590501" y="728898"/>
            <a:ext cx="2283570" cy="66247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REGISTRATION</a:t>
            </a:r>
            <a:endParaRPr lang="en-IN" dirty="0"/>
          </a:p>
        </p:txBody>
      </p:sp>
      <p:sp>
        <p:nvSpPr>
          <p:cNvPr id="14" name="Oval 13"/>
          <p:cNvSpPr/>
          <p:nvPr/>
        </p:nvSpPr>
        <p:spPr>
          <a:xfrm>
            <a:off x="9255869" y="1509472"/>
            <a:ext cx="2589245" cy="7114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SELECT CATEGORIES</a:t>
            </a:r>
            <a:endParaRPr lang="en-IN" dirty="0"/>
          </a:p>
        </p:txBody>
      </p:sp>
      <p:sp>
        <p:nvSpPr>
          <p:cNvPr id="15" name="Oval 14"/>
          <p:cNvSpPr/>
          <p:nvPr/>
        </p:nvSpPr>
        <p:spPr>
          <a:xfrm>
            <a:off x="9448281" y="2769469"/>
            <a:ext cx="2619830" cy="10380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SUB-CATERORY(</a:t>
            </a:r>
            <a:r>
              <a:rPr lang="en-IN" dirty="0" err="1" smtClean="0"/>
              <a:t>Qty,Wt,QR,Add</a:t>
            </a:r>
            <a:r>
              <a:rPr lang="en-IN" dirty="0" smtClean="0"/>
              <a:t> to cart)</a:t>
            </a:r>
            <a:endParaRPr lang="en-IN" dirty="0"/>
          </a:p>
        </p:txBody>
      </p:sp>
      <p:sp>
        <p:nvSpPr>
          <p:cNvPr id="16" name="Oval 15"/>
          <p:cNvSpPr/>
          <p:nvPr/>
        </p:nvSpPr>
        <p:spPr>
          <a:xfrm>
            <a:off x="9255869" y="4373683"/>
            <a:ext cx="2677886" cy="69950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PAYMENT(</a:t>
            </a:r>
            <a:r>
              <a:rPr lang="en-IN" dirty="0" err="1" smtClean="0"/>
              <a:t>upi,paytm,razorpay</a:t>
            </a:r>
            <a:r>
              <a:rPr lang="en-IN" dirty="0" smtClean="0"/>
              <a:t> )</a:t>
            </a:r>
            <a:endParaRPr lang="en-IN" dirty="0"/>
          </a:p>
        </p:txBody>
      </p:sp>
      <p:sp>
        <p:nvSpPr>
          <p:cNvPr id="17" name="Oval 16"/>
          <p:cNvSpPr/>
          <p:nvPr/>
        </p:nvSpPr>
        <p:spPr>
          <a:xfrm>
            <a:off x="8127061" y="5369768"/>
            <a:ext cx="2453853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Map (to show navigation</a:t>
            </a:r>
            <a:endParaRPr lang="en-IN" dirty="0"/>
          </a:p>
        </p:txBody>
      </p:sp>
      <p:sp>
        <p:nvSpPr>
          <p:cNvPr id="20" name="Freeform 19"/>
          <p:cNvSpPr/>
          <p:nvPr/>
        </p:nvSpPr>
        <p:spPr>
          <a:xfrm>
            <a:off x="11224727" y="2174033"/>
            <a:ext cx="459449" cy="681134"/>
          </a:xfrm>
          <a:custGeom>
            <a:avLst/>
            <a:gdLst>
              <a:gd name="connsiteX0" fmla="*/ 0 w 459449"/>
              <a:gd name="connsiteY0" fmla="*/ 0 h 681134"/>
              <a:gd name="connsiteX1" fmla="*/ 457200 w 459449"/>
              <a:gd name="connsiteY1" fmla="*/ 214604 h 681134"/>
              <a:gd name="connsiteX2" fmla="*/ 186612 w 459449"/>
              <a:gd name="connsiteY2" fmla="*/ 681134 h 681134"/>
              <a:gd name="connsiteX3" fmla="*/ 186612 w 459449"/>
              <a:gd name="connsiteY3" fmla="*/ 681134 h 681134"/>
              <a:gd name="connsiteX4" fmla="*/ 186612 w 459449"/>
              <a:gd name="connsiteY4" fmla="*/ 681134 h 681134"/>
              <a:gd name="connsiteX5" fmla="*/ 186612 w 459449"/>
              <a:gd name="connsiteY5" fmla="*/ 681134 h 68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449" h="681134">
                <a:moveTo>
                  <a:pt x="0" y="0"/>
                </a:moveTo>
                <a:cubicBezTo>
                  <a:pt x="213049" y="50541"/>
                  <a:pt x="426098" y="101082"/>
                  <a:pt x="457200" y="214604"/>
                </a:cubicBezTo>
                <a:cubicBezTo>
                  <a:pt x="488302" y="328126"/>
                  <a:pt x="186612" y="681134"/>
                  <a:pt x="186612" y="681134"/>
                </a:cubicBezTo>
                <a:lnTo>
                  <a:pt x="186612" y="681134"/>
                </a:lnTo>
                <a:lnTo>
                  <a:pt x="186612" y="681134"/>
                </a:lnTo>
                <a:lnTo>
                  <a:pt x="186612" y="681134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0"/>
          <p:cNvSpPr/>
          <p:nvPr/>
        </p:nvSpPr>
        <p:spPr>
          <a:xfrm>
            <a:off x="11346024" y="3685592"/>
            <a:ext cx="448264" cy="811763"/>
          </a:xfrm>
          <a:custGeom>
            <a:avLst/>
            <a:gdLst>
              <a:gd name="connsiteX0" fmla="*/ 261258 w 448264"/>
              <a:gd name="connsiteY0" fmla="*/ 0 h 811763"/>
              <a:gd name="connsiteX1" fmla="*/ 438539 w 448264"/>
              <a:gd name="connsiteY1" fmla="*/ 167951 h 811763"/>
              <a:gd name="connsiteX2" fmla="*/ 0 w 448264"/>
              <a:gd name="connsiteY2" fmla="*/ 811763 h 811763"/>
              <a:gd name="connsiteX3" fmla="*/ 0 w 448264"/>
              <a:gd name="connsiteY3" fmla="*/ 811763 h 811763"/>
              <a:gd name="connsiteX4" fmla="*/ 0 w 448264"/>
              <a:gd name="connsiteY4" fmla="*/ 811763 h 811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264" h="811763">
                <a:moveTo>
                  <a:pt x="261258" y="0"/>
                </a:moveTo>
                <a:cubicBezTo>
                  <a:pt x="371670" y="16328"/>
                  <a:pt x="482082" y="32657"/>
                  <a:pt x="438539" y="167951"/>
                </a:cubicBezTo>
                <a:cubicBezTo>
                  <a:pt x="394996" y="303245"/>
                  <a:pt x="0" y="811763"/>
                  <a:pt x="0" y="811763"/>
                </a:cubicBezTo>
                <a:lnTo>
                  <a:pt x="0" y="811763"/>
                </a:lnTo>
                <a:lnTo>
                  <a:pt x="0" y="811763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 21"/>
          <p:cNvSpPr/>
          <p:nvPr/>
        </p:nvSpPr>
        <p:spPr>
          <a:xfrm>
            <a:off x="10161037" y="5038531"/>
            <a:ext cx="839755" cy="699796"/>
          </a:xfrm>
          <a:custGeom>
            <a:avLst/>
            <a:gdLst>
              <a:gd name="connsiteX0" fmla="*/ 839755 w 839755"/>
              <a:gd name="connsiteY0" fmla="*/ 0 h 699796"/>
              <a:gd name="connsiteX1" fmla="*/ 587828 w 839755"/>
              <a:gd name="connsiteY1" fmla="*/ 438538 h 699796"/>
              <a:gd name="connsiteX2" fmla="*/ 0 w 839755"/>
              <a:gd name="connsiteY2" fmla="*/ 699796 h 699796"/>
              <a:gd name="connsiteX3" fmla="*/ 0 w 839755"/>
              <a:gd name="connsiteY3" fmla="*/ 699796 h 69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9755" h="699796">
                <a:moveTo>
                  <a:pt x="839755" y="0"/>
                </a:moveTo>
                <a:cubicBezTo>
                  <a:pt x="783771" y="160952"/>
                  <a:pt x="727787" y="321905"/>
                  <a:pt x="587828" y="438538"/>
                </a:cubicBezTo>
                <a:cubicBezTo>
                  <a:pt x="447869" y="555171"/>
                  <a:pt x="0" y="699796"/>
                  <a:pt x="0" y="699796"/>
                </a:cubicBezTo>
                <a:lnTo>
                  <a:pt x="0" y="699796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reeform 22"/>
          <p:cNvSpPr/>
          <p:nvPr/>
        </p:nvSpPr>
        <p:spPr>
          <a:xfrm>
            <a:off x="9741159" y="1045029"/>
            <a:ext cx="541176" cy="447869"/>
          </a:xfrm>
          <a:custGeom>
            <a:avLst/>
            <a:gdLst>
              <a:gd name="connsiteX0" fmla="*/ 0 w 541176"/>
              <a:gd name="connsiteY0" fmla="*/ 0 h 447869"/>
              <a:gd name="connsiteX1" fmla="*/ 307910 w 541176"/>
              <a:gd name="connsiteY1" fmla="*/ 83975 h 447869"/>
              <a:gd name="connsiteX2" fmla="*/ 541176 w 541176"/>
              <a:gd name="connsiteY2" fmla="*/ 447869 h 447869"/>
              <a:gd name="connsiteX3" fmla="*/ 541176 w 541176"/>
              <a:gd name="connsiteY3" fmla="*/ 447869 h 447869"/>
              <a:gd name="connsiteX4" fmla="*/ 541176 w 541176"/>
              <a:gd name="connsiteY4" fmla="*/ 447869 h 447869"/>
              <a:gd name="connsiteX5" fmla="*/ 541176 w 541176"/>
              <a:gd name="connsiteY5" fmla="*/ 447869 h 447869"/>
              <a:gd name="connsiteX6" fmla="*/ 541176 w 541176"/>
              <a:gd name="connsiteY6" fmla="*/ 447869 h 4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176" h="447869">
                <a:moveTo>
                  <a:pt x="0" y="0"/>
                </a:moveTo>
                <a:cubicBezTo>
                  <a:pt x="108857" y="4665"/>
                  <a:pt x="217714" y="9330"/>
                  <a:pt x="307910" y="83975"/>
                </a:cubicBezTo>
                <a:cubicBezTo>
                  <a:pt x="398106" y="158620"/>
                  <a:pt x="541176" y="447869"/>
                  <a:pt x="541176" y="447869"/>
                </a:cubicBezTo>
                <a:lnTo>
                  <a:pt x="541176" y="447869"/>
                </a:lnTo>
                <a:lnTo>
                  <a:pt x="541176" y="447869"/>
                </a:lnTo>
                <a:lnTo>
                  <a:pt x="541176" y="447869"/>
                </a:lnTo>
                <a:lnTo>
                  <a:pt x="541176" y="447869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57515" y="1268963"/>
            <a:ext cx="1706295" cy="33689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2164702" y="1268963"/>
            <a:ext cx="1744825" cy="479593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4077478" y="1340792"/>
            <a:ext cx="1654513" cy="455836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5890091" y="1390816"/>
            <a:ext cx="1622087" cy="447174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7665839" y="1898627"/>
            <a:ext cx="1590030" cy="337086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281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ShopEase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70275"/>
              </p:ext>
            </p:extLst>
          </p:nvPr>
        </p:nvGraphicFramePr>
        <p:xfrm>
          <a:off x="584718" y="3676261"/>
          <a:ext cx="76013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109"/>
                <a:gridCol w="4389230"/>
              </a:tblGrid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Frontend (App)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Flutter  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Frontend (Web)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React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Node.js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Firebase / </a:t>
                      </a:r>
                      <a:r>
                        <a:rPr lang="en-IN" dirty="0" err="1" smtClean="0"/>
                        <a:t>MangoDB</a:t>
                      </a:r>
                      <a:r>
                        <a:rPr lang="en-IN" baseline="0" dirty="0" smtClean="0"/>
                        <a:t> / </a:t>
                      </a:r>
                      <a:r>
                        <a:rPr lang="en-IN" baseline="0" dirty="0" err="1" smtClean="0"/>
                        <a:t>PostgreSQL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QR Scanning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ML Kit / </a:t>
                      </a:r>
                      <a:r>
                        <a:rPr lang="en-IN" dirty="0" err="1" smtClean="0"/>
                        <a:t>ZXing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Payment Gateway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Razorpay</a:t>
                      </a:r>
                      <a:r>
                        <a:rPr lang="en-IN" dirty="0" smtClean="0"/>
                        <a:t> / </a:t>
                      </a:r>
                      <a:r>
                        <a:rPr lang="en-IN" dirty="0" err="1" smtClean="0"/>
                        <a:t>Paytm</a:t>
                      </a:r>
                      <a:r>
                        <a:rPr lang="en-IN" dirty="0" smtClean="0"/>
                        <a:t> / Google Pay API</a:t>
                      </a:r>
                      <a:endParaRPr lang="en-IN" dirty="0"/>
                    </a:p>
                  </a:txBody>
                  <a:tcPr/>
                </a:tc>
              </a:tr>
              <a:tr h="331991">
                <a:tc>
                  <a:txBody>
                    <a:bodyPr/>
                    <a:lstStyle/>
                    <a:p>
                      <a:r>
                        <a:rPr lang="en-IN" dirty="0" smtClean="0"/>
                        <a:t>Map Navigation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Google Maps API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09599" y="923928"/>
            <a:ext cx="1117496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 smtClean="0"/>
          </a:p>
          <a:p>
            <a:pPr marL="285750" indent="-285750">
              <a:buFont typeface="Wingdings" pitchFamily="2" charset="2"/>
              <a:buChar char="ü"/>
            </a:pPr>
            <a:r>
              <a:rPr lang="en-IN" b="1" dirty="0" smtClean="0"/>
              <a:t>Mobile </a:t>
            </a:r>
            <a:r>
              <a:rPr lang="en-IN" b="1" dirty="0"/>
              <a:t>App (Flutter):</a:t>
            </a:r>
            <a:endParaRPr lang="en-IN" dirty="0"/>
          </a:p>
          <a:p>
            <a:pPr lvl="1"/>
            <a:r>
              <a:rPr lang="en-IN" dirty="0"/>
              <a:t>Customer interface for shop selection, product scanning/manual entry, cart, payment, and history.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b="1" dirty="0"/>
              <a:t>Web Dashboard (React/Next.js):</a:t>
            </a:r>
            <a:endParaRPr lang="en-IN" dirty="0"/>
          </a:p>
          <a:p>
            <a:pPr lvl="1"/>
            <a:r>
              <a:rPr lang="en-IN" dirty="0"/>
              <a:t>Shopkeeper/admin interface for inventory, QR code management, and sales analytics.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b="1" dirty="0"/>
              <a:t>Backend (Node.js + Express):</a:t>
            </a:r>
            <a:endParaRPr lang="en-IN" dirty="0"/>
          </a:p>
          <a:p>
            <a:pPr lvl="1"/>
            <a:r>
              <a:rPr lang="en-IN" dirty="0"/>
              <a:t>Handles authentication, product data, cart management, payment API integration, and analytics.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b="1" dirty="0"/>
              <a:t>Database (</a:t>
            </a:r>
            <a:r>
              <a:rPr lang="en-IN" b="1" dirty="0" err="1"/>
              <a:t>MongoDB</a:t>
            </a:r>
            <a:r>
              <a:rPr lang="en-IN" b="1" dirty="0"/>
              <a:t>/Firebase):</a:t>
            </a:r>
            <a:endParaRPr lang="en-IN" dirty="0"/>
          </a:p>
          <a:p>
            <a:pPr lvl="1"/>
            <a:r>
              <a:rPr lang="en-IN" dirty="0"/>
              <a:t>Stores product details, shop IDs, purchase history, user profiles, and analytics data.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70" y="2383971"/>
            <a:ext cx="2063685" cy="1377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884706" y="3509251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Bodoni MT" pitchFamily="18" charset="0"/>
              </a:rPr>
              <a:t>React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221" y="4477326"/>
            <a:ext cx="1231640" cy="6484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290" y="3509251"/>
            <a:ext cx="1306285" cy="12923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41" y="5043040"/>
            <a:ext cx="1101199" cy="131172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842900" y="5504302"/>
            <a:ext cx="12809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Bodoni MT" pitchFamily="18" charset="0"/>
              </a:rPr>
              <a:t>Firebase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685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8" y="1176588"/>
            <a:ext cx="6822143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Analysis of the Feasibility of the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Idea</a:t>
            </a:r>
          </a:p>
          <a:p>
            <a:endParaRPr lang="en-GB" sz="2000" b="1" dirty="0" smtClean="0"/>
          </a:p>
          <a:p>
            <a:r>
              <a:rPr lang="en-GB" dirty="0" smtClean="0"/>
              <a:t>1) Works </a:t>
            </a:r>
            <a:r>
              <a:rPr lang="en-GB" dirty="0"/>
              <a:t>with any offline retail store (small </a:t>
            </a:r>
            <a:r>
              <a:rPr lang="en-GB" dirty="0" err="1"/>
              <a:t>kirana</a:t>
            </a:r>
            <a:r>
              <a:rPr lang="en-GB" dirty="0"/>
              <a:t> to big supermarkets).</a:t>
            </a:r>
          </a:p>
          <a:p>
            <a:r>
              <a:rPr lang="en-GB" dirty="0" smtClean="0"/>
              <a:t>2) Requires </a:t>
            </a:r>
            <a:r>
              <a:rPr lang="en-GB" dirty="0"/>
              <a:t>only QR codes, smartphones, and </a:t>
            </a:r>
            <a:r>
              <a:rPr lang="en-GB" dirty="0" smtClean="0"/>
              <a:t>internet </a:t>
            </a:r>
            <a:r>
              <a:rPr lang="en-GB" dirty="0"/>
              <a:t>which are widely available.</a:t>
            </a:r>
          </a:p>
          <a:p>
            <a:r>
              <a:rPr lang="en-GB" dirty="0" smtClean="0"/>
              <a:t>3) Easy </a:t>
            </a:r>
            <a:r>
              <a:rPr lang="en-GB" dirty="0"/>
              <a:t>integration with existing digital payment systems (UPI, </a:t>
            </a:r>
            <a:r>
              <a:rPr lang="en-GB" dirty="0" err="1"/>
              <a:t>Paytm</a:t>
            </a:r>
            <a:r>
              <a:rPr lang="en-GB" dirty="0"/>
              <a:t>, </a:t>
            </a:r>
            <a:r>
              <a:rPr lang="en-GB" dirty="0" err="1"/>
              <a:t>Razorpay</a:t>
            </a:r>
            <a:r>
              <a:rPr lang="en-GB" dirty="0"/>
              <a:t>).</a:t>
            </a:r>
          </a:p>
          <a:p>
            <a:r>
              <a:rPr lang="en-GB" dirty="0" smtClean="0"/>
              <a:t>4) Scalable </a:t>
            </a:r>
            <a:r>
              <a:rPr lang="en-GB" dirty="0"/>
              <a:t>model – can start in one city (</a:t>
            </a:r>
            <a:r>
              <a:rPr lang="en-GB" dirty="0" err="1"/>
              <a:t>Hinjewadi</a:t>
            </a:r>
            <a:r>
              <a:rPr lang="en-GB" dirty="0"/>
              <a:t>, Pune) and expand.</a:t>
            </a:r>
          </a:p>
          <a:p>
            <a:r>
              <a:rPr lang="en-GB" dirty="0" smtClean="0"/>
              <a:t>5) Backend </a:t>
            </a:r>
            <a:r>
              <a:rPr lang="en-GB" dirty="0"/>
              <a:t>+ Cloud (Firebase/</a:t>
            </a:r>
            <a:r>
              <a:rPr lang="en-GB" dirty="0" err="1"/>
              <a:t>MongoDB</a:t>
            </a:r>
            <a:r>
              <a:rPr lang="en-GB" dirty="0"/>
              <a:t>) ensures real-time inventory &amp; purchase history.</a:t>
            </a:r>
          </a:p>
          <a:p>
            <a:pPr lvl="8" algn="just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2" y="252246"/>
            <a:ext cx="154385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ShopEase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598" y="4125091"/>
            <a:ext cx="798755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b="1" dirty="0" smtClean="0"/>
              <a:t> </a:t>
            </a: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Potential Challenges and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Risks</a:t>
            </a:r>
          </a:p>
          <a:p>
            <a:endParaRPr lang="en-GB" sz="2000" b="1" dirty="0"/>
          </a:p>
          <a:p>
            <a:r>
              <a:rPr lang="en-GB" dirty="0" smtClean="0"/>
              <a:t>1) Adoption </a:t>
            </a:r>
            <a:r>
              <a:rPr lang="en-GB" dirty="0"/>
              <a:t>resistance by small shopkeepers unfamiliar with digital tools.</a:t>
            </a:r>
          </a:p>
          <a:p>
            <a:r>
              <a:rPr lang="en-GB" dirty="0" smtClean="0"/>
              <a:t>2) Internet </a:t>
            </a:r>
            <a:r>
              <a:rPr lang="en-GB" dirty="0"/>
              <a:t>dependency in rural or low-network areas.</a:t>
            </a:r>
          </a:p>
          <a:p>
            <a:r>
              <a:rPr lang="en-GB" dirty="0" smtClean="0"/>
              <a:t>3) Older </a:t>
            </a:r>
            <a:r>
              <a:rPr lang="en-GB" dirty="0"/>
              <a:t>customers may face difficulty using digital checkout.</a:t>
            </a:r>
          </a:p>
          <a:p>
            <a:r>
              <a:rPr lang="en-GB" dirty="0" smtClean="0"/>
              <a:t>4) Data </a:t>
            </a:r>
            <a:r>
              <a:rPr lang="en-GB" dirty="0"/>
              <a:t>privacy/security risks in storing customer billing info.</a:t>
            </a:r>
          </a:p>
          <a:p>
            <a:r>
              <a:rPr lang="en-GB" dirty="0" smtClean="0"/>
              <a:t>5) Initial </a:t>
            </a:r>
            <a:r>
              <a:rPr lang="en-GB" dirty="0"/>
              <a:t>setup cost for shops (QR codes, training).</a:t>
            </a:r>
          </a:p>
        </p:txBody>
      </p:sp>
      <p:sp>
        <p:nvSpPr>
          <p:cNvPr id="3" name="Rectangle 2"/>
          <p:cNvSpPr/>
          <p:nvPr/>
        </p:nvSpPr>
        <p:spPr>
          <a:xfrm>
            <a:off x="7852200" y="1667435"/>
            <a:ext cx="4222377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Strategies for Overcoming These </a:t>
            </a: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endParaRPr lang="en-GB" b="1" dirty="0"/>
          </a:p>
          <a:p>
            <a:r>
              <a:rPr lang="en-GB" dirty="0" smtClean="0"/>
              <a:t>1) Conduct </a:t>
            </a:r>
            <a:r>
              <a:rPr lang="en-GB" dirty="0"/>
              <a:t>training &amp; awareness workshops for shopkeepers.</a:t>
            </a:r>
          </a:p>
          <a:p>
            <a:r>
              <a:rPr lang="en-GB" dirty="0" smtClean="0"/>
              <a:t>2) Add </a:t>
            </a:r>
            <a:r>
              <a:rPr lang="en-GB" dirty="0"/>
              <a:t>offline mode with auto-sync when internet is restored.</a:t>
            </a:r>
          </a:p>
          <a:p>
            <a:r>
              <a:rPr lang="en-GB" dirty="0" smtClean="0"/>
              <a:t>3) Keep </a:t>
            </a:r>
            <a:r>
              <a:rPr lang="en-GB" dirty="0"/>
              <a:t>the UI/UX simple – large icons, dropdowns, easy QR scan.</a:t>
            </a:r>
          </a:p>
          <a:p>
            <a:r>
              <a:rPr lang="en-GB" dirty="0" smtClean="0"/>
              <a:t>4) Ensure </a:t>
            </a:r>
            <a:r>
              <a:rPr lang="en-GB" dirty="0"/>
              <a:t>data encryption &amp; secure payments with certified gateways.</a:t>
            </a:r>
          </a:p>
          <a:p>
            <a:r>
              <a:rPr lang="en-GB" dirty="0" smtClean="0"/>
              <a:t>6)Offer </a:t>
            </a:r>
            <a:r>
              <a:rPr lang="en-GB" dirty="0"/>
              <a:t>incentives (discounts, loyalty points) to encourage adoption.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918" y="4125090"/>
            <a:ext cx="7046258" cy="2092882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28918" y="1179964"/>
            <a:ext cx="7046258" cy="28810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28918" y="1179965"/>
            <a:ext cx="7046258" cy="288104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98494" y="77096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7781364" y="1228165"/>
            <a:ext cx="4132729" cy="49898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603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ShopEase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53319" y="1502260"/>
            <a:ext cx="65685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Social Benefits:</a:t>
            </a:r>
            <a:endParaRPr lang="en-GB" dirty="0"/>
          </a:p>
          <a:p>
            <a:pPr lvl="1"/>
            <a:r>
              <a:rPr lang="en-GB" dirty="0" smtClean="0"/>
              <a:t>- Saves </a:t>
            </a:r>
            <a:r>
              <a:rPr lang="en-GB" dirty="0"/>
              <a:t>customer time &amp; energy.</a:t>
            </a:r>
          </a:p>
          <a:p>
            <a:pPr lvl="1"/>
            <a:r>
              <a:rPr lang="en-GB" dirty="0" smtClean="0"/>
              <a:t>- Improves </a:t>
            </a:r>
            <a:r>
              <a:rPr lang="en-GB" dirty="0"/>
              <a:t>overall shopping experience.</a:t>
            </a:r>
          </a:p>
          <a:p>
            <a:pPr lvl="1"/>
            <a:r>
              <a:rPr lang="en-GB" dirty="0" smtClean="0"/>
              <a:t>- Promotes </a:t>
            </a:r>
            <a:r>
              <a:rPr lang="en-GB" dirty="0"/>
              <a:t>digital literacy &amp; inclusivity.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Economic Benefits:</a:t>
            </a:r>
            <a:endParaRPr lang="en-GB" dirty="0"/>
          </a:p>
          <a:p>
            <a:pPr lvl="1"/>
            <a:r>
              <a:rPr lang="en-GB" dirty="0" smtClean="0"/>
              <a:t>- Boosts </a:t>
            </a:r>
            <a:r>
              <a:rPr lang="en-GB" dirty="0"/>
              <a:t>shop revenue through efficiency.</a:t>
            </a:r>
          </a:p>
          <a:p>
            <a:pPr lvl="1"/>
            <a:r>
              <a:rPr lang="en-GB" dirty="0" smtClean="0"/>
              <a:t>- Reduces </a:t>
            </a:r>
            <a:r>
              <a:rPr lang="en-GB" dirty="0"/>
              <a:t>manpower costs at billing counters.</a:t>
            </a:r>
          </a:p>
          <a:p>
            <a:pPr lvl="1"/>
            <a:r>
              <a:rPr lang="en-GB" dirty="0" smtClean="0"/>
              <a:t>- Helps </a:t>
            </a:r>
            <a:r>
              <a:rPr lang="en-GB" dirty="0"/>
              <a:t>small </a:t>
            </a:r>
            <a:r>
              <a:rPr lang="en-GB" dirty="0" err="1"/>
              <a:t>Kirana</a:t>
            </a:r>
            <a:r>
              <a:rPr lang="en-GB" dirty="0"/>
              <a:t> shops compete with big retail chains.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Environmental Benefits:</a:t>
            </a:r>
            <a:endParaRPr lang="en-GB" dirty="0"/>
          </a:p>
          <a:p>
            <a:pPr lvl="1"/>
            <a:r>
              <a:rPr lang="en-GB" dirty="0" smtClean="0"/>
              <a:t>- Digital </a:t>
            </a:r>
            <a:r>
              <a:rPr lang="en-GB" dirty="0"/>
              <a:t>receipts reduce paper usage → eco-friendly.</a:t>
            </a:r>
          </a:p>
          <a:p>
            <a:pPr lvl="1"/>
            <a:r>
              <a:rPr lang="en-GB" dirty="0" smtClean="0"/>
              <a:t>- Less </a:t>
            </a:r>
            <a:r>
              <a:rPr lang="en-GB" dirty="0"/>
              <a:t>need for physical infrastructure at billing counters.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Scalability Benefits:</a:t>
            </a:r>
            <a:endParaRPr lang="en-GB" dirty="0"/>
          </a:p>
          <a:p>
            <a:pPr lvl="1"/>
            <a:r>
              <a:rPr lang="en-GB" dirty="0" smtClean="0"/>
              <a:t>- Start </a:t>
            </a:r>
            <a:r>
              <a:rPr lang="en-GB" dirty="0"/>
              <a:t>with one </a:t>
            </a:r>
            <a:r>
              <a:rPr lang="en-GB" dirty="0" smtClean="0"/>
              <a:t>city expand </a:t>
            </a:r>
            <a:r>
              <a:rPr lang="en-GB" dirty="0"/>
              <a:t>nationwide.</a:t>
            </a:r>
          </a:p>
          <a:p>
            <a:pPr lvl="1"/>
            <a:r>
              <a:rPr lang="en-GB" dirty="0" smtClean="0"/>
              <a:t>- Can </a:t>
            </a:r>
            <a:r>
              <a:rPr lang="en-GB" dirty="0"/>
              <a:t>be adapted to any retail domain (grocery, fashion, electronics).</a:t>
            </a:r>
          </a:p>
          <a:p>
            <a:pPr lvl="0" defTabSz="914400"/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3" y="1431448"/>
            <a:ext cx="4749283" cy="452431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58265" y="1397596"/>
            <a:ext cx="2658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 </a:t>
            </a:r>
            <a:r>
              <a:rPr lang="en-IN" sz="2800" dirty="0" smtClean="0"/>
              <a:t> </a:t>
            </a:r>
            <a:r>
              <a:rPr lang="en-IN" sz="2800" b="1" dirty="0" smtClean="0"/>
              <a:t>IMPACTS </a:t>
            </a:r>
            <a:endParaRPr lang="en-IN" sz="2800" b="1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4955149" y="1059580"/>
            <a:ext cx="15688" cy="5108138"/>
          </a:xfrm>
          <a:prstGeom prst="line">
            <a:avLst/>
          </a:prstGeom>
          <a:effectLst>
            <a:outerShdw blurRad="40000" dist="20000" dir="5400000" sx="104000" sy="104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07438" y="1921461"/>
            <a:ext cx="1474237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1556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ShopEase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7712</TotalTime>
  <Words>542</Words>
  <Application>Microsoft Office PowerPoint</Application>
  <PresentationFormat>Custom</PresentationFormat>
  <Paragraphs>102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USER</cp:lastModifiedBy>
  <cp:revision>176</cp:revision>
  <dcterms:created xsi:type="dcterms:W3CDTF">2013-12-12T18:46:50Z</dcterms:created>
  <dcterms:modified xsi:type="dcterms:W3CDTF">2025-09-08T19:37:03Z</dcterms:modified>
  <cp:category/>
</cp:coreProperties>
</file>